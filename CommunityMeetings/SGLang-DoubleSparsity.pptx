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9a78fcaa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2f9a78fcaa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2f9a78fcaa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9a78fcaa6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2f9a78fcaa6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9a78fcaa6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2f9a78fcaa6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9a78fca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9a78fca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9a78fcaa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9a78fcaa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9a78fcaa6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9a78fcaa6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9a78fcaa6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9a78fcaa6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9a78fcaa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9a78fcaa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9a78fcaa6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9a78fcaa6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9a78fcaa6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9a78fcaa6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9a78fcaa6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9a78fcaa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f9a78fcaa6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f9a78fcaa6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9a78fcaa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9a78fcaa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9a78fcaa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9a78fcaa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9a78fcaa6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f9a78fcaa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9a78fcaa6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6" name="Google Shape;166;g2f9a78fcaa6_0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9a78fcaa6_0_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2f9a78fcaa6_0_3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g2f9a78fcaa6_0_3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9a78fcaa6_0_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2f9a78fcaa6_0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sgl-fru7574.slack.com/join/shared_invite/zt-2ngly9muu-t37XiH87qvD~6rVBTkTEHw" TargetMode="External"/><Relationship Id="rId4" Type="http://schemas.openxmlformats.org/officeDocument/2006/relationships/hyperlink" Target="https://github.com/sgl-project/sgla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1143000" y="976675"/>
            <a:ext cx="6858000" cy="22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0" lIns="68575" spcFirstLastPara="1" rIns="68575" wrap="square" tIns="1800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6538"/>
              <a:buFont typeface="Calibri"/>
              <a:buNone/>
            </a:pPr>
            <a:r>
              <a:rPr lang="zh-CN"/>
              <a:t>SGLang Double Sparsity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5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5000"/>
              <a:buFont typeface="Calibri"/>
              <a:buNone/>
            </a:pPr>
            <a:r>
              <a:rPr lang="zh-CN" sz="2000"/>
              <a:t>Shuo Yang&lt;andy_yang@berkeley.edu&gt;</a:t>
            </a:r>
            <a:endParaRPr sz="2000"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68" name="Google Shape;68;p15"/>
          <p:cNvGrpSpPr/>
          <p:nvPr/>
        </p:nvGrpSpPr>
        <p:grpSpPr>
          <a:xfrm>
            <a:off x="2232336" y="1375650"/>
            <a:ext cx="4972798" cy="1756400"/>
            <a:chOff x="1953925" y="1479800"/>
            <a:chExt cx="4679400" cy="1756400"/>
          </a:xfrm>
        </p:grpSpPr>
        <p:sp>
          <p:nvSpPr>
            <p:cNvPr id="69" name="Google Shape;69;p15"/>
            <p:cNvSpPr txBox="1"/>
            <p:nvPr/>
          </p:nvSpPr>
          <p:spPr>
            <a:xfrm>
              <a:off x="1953925" y="14798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b="0" i="0" lang="zh-CN" sz="2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 to Double Sparsity</a:t>
              </a:r>
              <a:endParaRPr sz="1100"/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1953925" y="21156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SGLang with 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Sparsity</a:t>
              </a:r>
              <a:endParaRPr sz="1100"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1953925" y="2751400"/>
              <a:ext cx="46794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zh-CN" sz="2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Future Work</a:t>
              </a:r>
              <a:endParaRPr sz="1100"/>
            </a:p>
          </p:txBody>
        </p:sp>
      </p:grpSp>
      <p:sp>
        <p:nvSpPr>
          <p:cNvPr id="72" name="Google Shape;72;p15"/>
          <p:cNvSpPr txBox="1"/>
          <p:nvPr>
            <p:ph idx="4294967295" type="title"/>
          </p:nvPr>
        </p:nvSpPr>
        <p:spPr>
          <a:xfrm>
            <a:off x="3722850" y="392425"/>
            <a:ext cx="1936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zh-CN" sz="3400"/>
              <a:t>Outlines</a:t>
            </a:r>
            <a:endParaRPr b="1"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1402325" y="2306250"/>
            <a:ext cx="608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Introduction to Double Sparsity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Background: Long Context Inference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526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Long context is popular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Llama3.1 has 128k context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GPT-o1 has extremely long Chain-of-Thought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Long context is memory-bounded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Memory access accounts for more than 80% of the total serving time when serving 16 8k requests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GPT-o1 is really slow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Background: Long Context Inference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526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Long context is popular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Llama3.1 has 128k context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GPT-o1 has extremely long Chain-of-Thought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Long context is memory-bounded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Memory access accounts for more than 80% of the total serving time when serving 16 8k requests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GPT-o1 is really slow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675" y="1152475"/>
            <a:ext cx="3258299" cy="34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Background: Sparse Attention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726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Goal: Reduce Total Memory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 Observation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T</a:t>
            </a:r>
            <a:r>
              <a:rPr lang="zh-CN"/>
              <a:t>okens are not equally important for decoding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Heavy Hitter Oracle (H2O)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Scissorhand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StreamingLLM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We can use a part of channels to predict the important tokens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AWQ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CN"/>
              <a:t>SparQ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Double Sparsity: </a:t>
            </a:r>
            <a:r>
              <a:rPr lang="zh-CN"/>
              <a:t>14.1x A</a:t>
            </a:r>
            <a:r>
              <a:rPr lang="zh-CN"/>
              <a:t>ttention</a:t>
            </a:r>
            <a:r>
              <a:rPr lang="zh-CN"/>
              <a:t> Speedup with no Loss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Core Design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Determine Important Channels: Offline Calibration (before decoding)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Store Important Channels’ Values in Label Cache </a:t>
            </a:r>
            <a:r>
              <a:rPr lang="zh-CN"/>
              <a:t>(decoding)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Compute Approximate Attention with Label Cache</a:t>
            </a:r>
            <a:r>
              <a:rPr lang="zh-CN"/>
              <a:t> (decoding)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Select Top-k Tokens based on Approximate Attention</a:t>
            </a:r>
            <a:r>
              <a:rPr lang="zh-CN"/>
              <a:t> (decoding)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Compute Attention over Top-k Tokens (decoding)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Double Sparsity: 14.1x Attention Speedup with no Loss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Offline Calibration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Important tokens are dynamic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Important channels are static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Label Cache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Bandwidth-friendly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zh-CN"/>
              <a:t>Higher L1/L2 cache hit rate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3" cy="337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Double Sparsity: 14.1x Attention Speedup with no Loss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00" y="1513675"/>
            <a:ext cx="8764800" cy="27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Double Sparsity: 14.1x Attention Speedup with no Loss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75" y="1152475"/>
            <a:ext cx="6952977" cy="38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Double Sparsity: 14.1x Attention Speedup with no Loss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410550" cy="37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1402325" y="2306250"/>
            <a:ext cx="608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SGLang with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Double Sparsity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Page Attention with Double Sparsity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628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Implementation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Add label cache to page memory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Support page approximate attention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CN"/>
              <a:t>Label cache and KV cache share the same mapping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Page Attention with Double Sparsity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850" y="1522425"/>
            <a:ext cx="5017324" cy="13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/>
        </p:nvSpPr>
        <p:spPr>
          <a:xfrm>
            <a:off x="4030850" y="1060725"/>
            <a:ext cx="146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KV Cache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848" y="3463881"/>
            <a:ext cx="2130501" cy="7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/>
        </p:nvSpPr>
        <p:spPr>
          <a:xfrm>
            <a:off x="4006400" y="2955225"/>
            <a:ext cx="15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Label Cache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216950" y="1136675"/>
            <a:ext cx="36180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0000F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DoubleSparseTokenToKVPool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BaseTokenToKVPool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0000F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005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dtype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dtype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head_dim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layer_num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heavy_channel_num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):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super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i="1" lang="zh-CN" sz="700">
                <a:solidFill>
                  <a:srgbClr val="A05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# [size, head_num, head_dim] for each layer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005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k_buffer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[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empty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0604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head_dim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layer_num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]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self.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[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empty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0604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head_dim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layer_num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]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i="1" lang="zh-CN" sz="700">
                <a:solidFill>
                  <a:srgbClr val="A05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# [size, head_num, heavy_channel_num] for each layer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self.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label_buffer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[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empty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0604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head_num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heavy_channel_num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3000A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range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layer_num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]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Page Attention with Double Sparsity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850" y="1522425"/>
            <a:ext cx="5017324" cy="13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4030850" y="1060725"/>
            <a:ext cx="146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KV Cache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848" y="3463881"/>
            <a:ext cx="2130501" cy="7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4006400" y="2955225"/>
            <a:ext cx="151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Label Cache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28000" y="1060725"/>
            <a:ext cx="3918900" cy="3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700">
                <a:solidFill>
                  <a:srgbClr val="70008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0000F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decode_sparse_attention_fwd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q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k_buffer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label_buffer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Req_to_tokens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,):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i="1" lang="zh-CN" sz="700">
                <a:solidFill>
                  <a:srgbClr val="A05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# Step 1: BGEMV approximate attention (page implementation)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zh-CN" sz="70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att_out_approx </a:t>
            </a:r>
            <a:r>
              <a:rPr b="1" lang="zh-CN" sz="700">
                <a:solidFill>
                  <a:srgbClr val="EE11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_decode_approximate_attn_m_fwd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q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label_buffer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Req_to_tokens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i="1" lang="zh-CN" sz="700">
                <a:solidFill>
                  <a:srgbClr val="A05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# Step 2: TopK token selection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topk_token_indices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topk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att_out_approx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dim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=-</a:t>
            </a:r>
            <a:r>
              <a:rPr lang="zh-CN" sz="700">
                <a:solidFill>
                  <a:srgbClr val="10604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indices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Req_to_tokens_topk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torch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zh-CN" sz="700">
                <a:solidFill>
                  <a:srgbClr val="572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gather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Req_to_tokens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0604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topk_token_indices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i="1" lang="zh-CN" sz="700">
                <a:solidFill>
                  <a:srgbClr val="A05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# Step 3: Full attention over TopK tokens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zh-CN" sz="700">
                <a:solidFill>
                  <a:srgbClr val="EE11FF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_decode_attn_m_fwd_topk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q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k_buffer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v_buffer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    </a:t>
            </a:r>
            <a:r>
              <a:rPr lang="zh-CN" sz="700">
                <a:solidFill>
                  <a:srgbClr val="1AB1CD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Req_to_tokens_topk</a:t>
            </a: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  )</a:t>
            </a:r>
            <a:endParaRPr sz="7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69" name="Google Shape;169;p29"/>
          <p:cNvSpPr txBox="1"/>
          <p:nvPr/>
        </p:nvSpPr>
        <p:spPr>
          <a:xfrm>
            <a:off x="1402325" y="2306250"/>
            <a:ext cx="608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191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➔"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Future Work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449704" y="273844"/>
            <a:ext cx="826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zh-CN" sz="2700"/>
              <a:t>Future Work</a:t>
            </a:r>
            <a:endParaRPr b="1"/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78" name="Google Shape;178;p30"/>
          <p:cNvSpPr txBox="1"/>
          <p:nvPr/>
        </p:nvSpPr>
        <p:spPr>
          <a:xfrm>
            <a:off x="2428275" y="770850"/>
            <a:ext cx="4858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Sparsity-Offload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torch.compile &amp; CUDA 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1-bit Tensor core approximate attention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822150" y="2040750"/>
            <a:ext cx="7499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to join our </a:t>
            </a:r>
            <a:r>
              <a:rPr b="1" lang="zh-CN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Slack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use </a:t>
            </a:r>
            <a:r>
              <a:rPr b="1" lang="zh-CN" sz="3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SGLang</a:t>
            </a:r>
            <a:r>
              <a:rPr b="1"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