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8b1087d9f9_4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28b1087d9f9_4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28b1087d9f9_4_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8b1087d9f9_4_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28b1087d9f9_4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31bdfe4db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031bdfe4db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8b1087d9f9_4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28b1087d9f9_4_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MLA means Multi-head Latent Attention. It’s an innovative attention architecture introduced by the DeepSeek-AI Team.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Actually, there are serval attention architectures.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>
                <a:solidFill>
                  <a:schemeClr val="dk1"/>
                </a:solidFill>
              </a:rPr>
              <a:t>MHA is a conventional architecture. The kv cache is very heavy.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>
                <a:solidFill>
                  <a:schemeClr val="dk1"/>
                </a:solidFill>
              </a:rPr>
              <a:t>GQA and MQA reduced the KV cache by sharing kv over heads.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>
                <a:solidFill>
                  <a:schemeClr val="dk1"/>
                </a:solidFill>
              </a:rPr>
              <a:t>MLA innovatively introduced the low-rank projection to compress the kv cache into a latent vector, which significantly reduced the inference-time KV cache. So we can achieve higher throughput.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" name="Google Shape;152;g28b1087d9f9_4_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031bdfe4db_0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031bdfe4db_0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Let’s overview the computation process.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The MHA computation is very straightforward.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The MLA added mainly three changes on the MHA process: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The first is adding the Down linear layer to get the latent vector and up linear layer to project it to k and v.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The second is seperating the q and k into no rotary part and rotary embedding part of q and k. So that we can apply weight absorption on no rotary part.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The third is the cached part is only the compressed latent vector and the rotary part of k.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" name="Google Shape;166;g3031bdfe4db_0_1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31bdfe4db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031bdfe4db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31bdfe4d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031bdfe4d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The first optimization is the weight absorption. It’s the key optimization point mentioned in the paper.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Weight absorption means chaging the computation order by applying the associative law of matrix multiplication.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Here is an example of the qk computation.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The compuation overhead is different if we take different order to do matrix multiplication.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As computed, we can find if we absorb the Wuk weight matrix to the q first, it can take less computation in the decoding stage. Because the q length is one in docoding, the FLOPs of absorbed order is much small.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" name="Google Shape;184;g3031bdfe4d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3b7ec7030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03b7ec7030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Here is the computation change of weight absorption.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After weight absorption, the up linear layer is splited into two parts, and can be absorbed into q linear and o linear respectively.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Here, the k is the latent vector concatenated with the rotary part and the v is just the latent vector.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We implemented it based on MQA instead of MHA kernel, because the k and v have only one head here.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To be mentioned, the weight absorption cannot be applied to the rotary embedding part of q and k, that’s why it need to be seperated here. The detailed reason can be seen in the original paper.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g303b7ec7030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031bdfe4db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031bdfe4db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0" name="Google Shape;230;g3031bdfe4db_0_1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031bdfe4db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031bdfe4db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We optimizaed the memory access of the Triton decoding kernel for MLA.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We are using the MQA setting, that’s the k and v will be repeated read to each blocks to do the computation.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Previously, one triton block will only process one q head. For example, in the left figure, we have for q head, so we use for blocks to handle them, the k and v will be read four times from the L2 cache.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Now we use one block to handle a group of q heads, that can reduce the memory load a lot.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8" name="Google Shape;238;g3031bdfe4db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031bdfe4db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031bdfe4db_0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DeepSeek in SGLang supports W8A8 and FP8 KV Cache. When W8A8 is enabled, the throughput increases by 57% compared to fp16. When both W8A8 and fp8 kv cache are enabled, the throughput increases by 70% compared to fp16.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9" name="Google Shape;249;g3031bdfe4db_0_1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031bdfe4db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031bdfe4db_0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>
                <a:solidFill>
                  <a:schemeClr val="dk1"/>
                </a:solidFill>
              </a:rPr>
              <a:t>With input length 512, output length 512, and batch size 1, enabling CUDA graph and Torch compile has increased throughput by 1.7  times.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0" name="Google Shape;260;g3031bdfe4db_0_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03b7f15331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03b7f15331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The throughput has improved significantly </a:t>
            </a:r>
            <a:r>
              <a:rPr lang="zh-CN">
                <a:solidFill>
                  <a:schemeClr val="dk1"/>
                </a:solidFill>
              </a:rPr>
              <a:t>compared to MHA</a:t>
            </a:r>
            <a:r>
              <a:rPr lang="zh-CN">
                <a:solidFill>
                  <a:schemeClr val="dk1"/>
                </a:solidFill>
              </a:rPr>
              <a:t>. In the case of bf16, it has increased by 7 times.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031bdfe4db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031bdfe4db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031bdfe4db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031bdfe4db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84" name="Google Shape;284;g3031bdfe4db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031bdfe4db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031bdfe4db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031bdfe4db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031bdfe4db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While Expert Parallel evenly distributes some of the experts’ full weight to different GPUs, which means each GPU holds part of the experts’ full weight.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9" name="Google Shape;299;g3031bdfe4db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031bdfe4db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031bdfe4db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rxiv.org/pdf/2405.04434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11" Type="http://schemas.openxmlformats.org/officeDocument/2006/relationships/image" Target="../media/image16.png"/><Relationship Id="rId10" Type="http://schemas.openxmlformats.org/officeDocument/2006/relationships/image" Target="../media/image11.pn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sgl-project/sglang/pull/905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sgl-project/sglang/pull/1138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flashinfer-ai/flashinfer/pull/469" TargetMode="External"/><Relationship Id="rId4" Type="http://schemas.openxmlformats.org/officeDocument/2006/relationships/hyperlink" Target="https://github.com/sgl-project/sglang/pull/1285" TargetMode="External"/><Relationship Id="rId5" Type="http://schemas.openxmlformats.org/officeDocument/2006/relationships/hyperlink" Target="https://github.com/sgl-project/sglang/pull/1286" TargetMode="External"/><Relationship Id="rId6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sgl-project/sglang/pull/1401" TargetMode="External"/><Relationship Id="rId4" Type="http://schemas.openxmlformats.org/officeDocument/2006/relationships/hyperlink" Target="https://github.com/sgl-project/sglang/pull/1469" TargetMode="External"/><Relationship Id="rId5" Type="http://schemas.openxmlformats.org/officeDocument/2006/relationships/hyperlink" Target="https://github.com/sgl-project/sglang/pull/1442" TargetMode="External"/><Relationship Id="rId6" Type="http://schemas.openxmlformats.org/officeDocument/2006/relationships/hyperlink" Target="https://github.com/sgl-project/sglang/issues/1446" TargetMode="External"/><Relationship Id="rId7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hyperlink" Target="https://lmsys.org/blog/2024-09-04-sglang-v0-3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sgl-fru7574.slack.com/join/shared_invite/zt-2ngly9muu-t37XiH87qvD~6rVBTkTEHw" TargetMode="External"/><Relationship Id="rId4" Type="http://schemas.openxmlformats.org/officeDocument/2006/relationships/hyperlink" Target="https://github.com/sgl-project/sgla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ctrTitle"/>
          </p:nvPr>
        </p:nvSpPr>
        <p:spPr>
          <a:xfrm>
            <a:off x="1143000" y="976675"/>
            <a:ext cx="6858000" cy="22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0" lIns="68575" spcFirstLastPara="1" rIns="68575" wrap="square" tIns="1800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zh-CN"/>
              <a:t>SGLang DeepSeek MLA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zh-CN" sz="2000"/>
              <a:t>Ke Bao&lt;</a:t>
            </a:r>
            <a:r>
              <a:rPr lang="zh-CN" sz="2000"/>
              <a:t>bockbao@gmail.com</a:t>
            </a:r>
            <a:r>
              <a:rPr lang="zh-CN" sz="2000"/>
              <a:t>&gt;, Yineng Zhang&lt;me@zhyncs.com&gt;</a:t>
            </a:r>
            <a:endParaRPr sz="2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t/>
            </a:r>
            <a:endParaRPr sz="6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zh-CN" sz="2000"/>
              <a:t>SGLang Team</a:t>
            </a:r>
            <a:endParaRPr sz="2000"/>
          </a:p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grpSp>
        <p:nvGrpSpPr>
          <p:cNvPr id="137" name="Google Shape;137;p26"/>
          <p:cNvGrpSpPr/>
          <p:nvPr/>
        </p:nvGrpSpPr>
        <p:grpSpPr>
          <a:xfrm>
            <a:off x="2232298" y="1375650"/>
            <a:ext cx="4679404" cy="2392200"/>
            <a:chOff x="1953922" y="1479800"/>
            <a:chExt cx="4679404" cy="2392200"/>
          </a:xfrm>
        </p:grpSpPr>
        <p:sp>
          <p:nvSpPr>
            <p:cNvPr id="138" name="Google Shape;138;p26"/>
            <p:cNvSpPr txBox="1"/>
            <p:nvPr/>
          </p:nvSpPr>
          <p:spPr>
            <a:xfrm>
              <a:off x="1953925" y="1479800"/>
              <a:ext cx="46794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</a:t>
              </a:r>
              <a:r>
                <a:rPr b="0" i="0" lang="zh-CN" sz="2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zh-CN"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 to </a:t>
              </a:r>
              <a:r>
                <a:rPr lang="zh-CN"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MLA</a:t>
              </a:r>
              <a:endParaRPr sz="1100"/>
            </a:p>
          </p:txBody>
        </p:sp>
        <p:sp>
          <p:nvSpPr>
            <p:cNvPr id="139" name="Google Shape;139;p26"/>
            <p:cNvSpPr txBox="1"/>
            <p:nvPr/>
          </p:nvSpPr>
          <p:spPr>
            <a:xfrm>
              <a:off x="1953925" y="2115600"/>
              <a:ext cx="46794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</a:t>
              </a:r>
              <a:r>
                <a:rPr lang="zh-CN"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SGLang MLA Optimizations</a:t>
              </a:r>
              <a:endParaRPr sz="1100"/>
            </a:p>
          </p:txBody>
        </p:sp>
        <p:sp>
          <p:nvSpPr>
            <p:cNvPr id="140" name="Google Shape;140;p26"/>
            <p:cNvSpPr txBox="1"/>
            <p:nvPr/>
          </p:nvSpPr>
          <p:spPr>
            <a:xfrm>
              <a:off x="1953925" y="2751400"/>
              <a:ext cx="46794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How to Use MLA in SGLang</a:t>
              </a:r>
              <a:endParaRPr sz="1100"/>
            </a:p>
          </p:txBody>
        </p:sp>
        <p:sp>
          <p:nvSpPr>
            <p:cNvPr id="141" name="Google Shape;141;p26"/>
            <p:cNvSpPr txBox="1"/>
            <p:nvPr/>
          </p:nvSpPr>
          <p:spPr>
            <a:xfrm>
              <a:off x="1953922" y="3387200"/>
              <a:ext cx="46794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Future Work</a:t>
              </a:r>
              <a:endParaRPr sz="1100"/>
            </a:p>
          </p:txBody>
        </p:sp>
      </p:grpSp>
      <p:sp>
        <p:nvSpPr>
          <p:cNvPr id="142" name="Google Shape;142;p26"/>
          <p:cNvSpPr txBox="1"/>
          <p:nvPr>
            <p:ph idx="4294967295" type="title"/>
          </p:nvPr>
        </p:nvSpPr>
        <p:spPr>
          <a:xfrm>
            <a:off x="3722850" y="392425"/>
            <a:ext cx="16983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zh-CN" sz="3400"/>
              <a:t>Outlines</a:t>
            </a:r>
            <a:endParaRPr b="1" sz="3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48" name="Google Shape;148;p27"/>
          <p:cNvSpPr txBox="1"/>
          <p:nvPr/>
        </p:nvSpPr>
        <p:spPr>
          <a:xfrm>
            <a:off x="2232300" y="2306250"/>
            <a:ext cx="4679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4191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➔"/>
            </a:pP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MLA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449704" y="273844"/>
            <a:ext cx="826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zh-CN" sz="2700"/>
              <a:t>What is</a:t>
            </a:r>
            <a:r>
              <a:rPr b="1" lang="zh-CN" sz="2700"/>
              <a:t> MLA？</a:t>
            </a:r>
            <a:endParaRPr b="1" sz="2700"/>
          </a:p>
        </p:txBody>
      </p:sp>
      <p:sp>
        <p:nvSpPr>
          <p:cNvPr id="155" name="Google Shape;155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56" name="Google Shape;156;p28"/>
          <p:cNvSpPr txBox="1"/>
          <p:nvPr/>
        </p:nvSpPr>
        <p:spPr>
          <a:xfrm>
            <a:off x="726750" y="1268050"/>
            <a:ext cx="8097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MLA</a:t>
            </a: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ulti-head </a:t>
            </a:r>
            <a:r>
              <a:rPr b="1"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atent </a:t>
            </a:r>
            <a:r>
              <a:rPr b="1"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ttention)</a:t>
            </a:r>
            <a:r>
              <a:rPr baseline="30000"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innovative attention architecture introduced by the DeepSeek-AI team.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726750" y="4428575"/>
            <a:ext cx="778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zh-C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zh-C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DeepSeek-V2: A Strong, Economical, and Efficient Mixture-of-Experts Language Model (</a:t>
            </a:r>
            <a:r>
              <a:rPr lang="zh-C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https://arxiv.org/pdf/2405.04434</a:t>
            </a:r>
            <a:r>
              <a:rPr lang="zh-C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2061" y="2175550"/>
            <a:ext cx="4859878" cy="2024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28"/>
          <p:cNvCxnSpPr/>
          <p:nvPr/>
        </p:nvCxnSpPr>
        <p:spPr>
          <a:xfrm>
            <a:off x="4527675" y="3995850"/>
            <a:ext cx="630000" cy="0"/>
          </a:xfrm>
          <a:prstGeom prst="straightConnector1">
            <a:avLst/>
          </a:prstGeom>
          <a:noFill/>
          <a:ln cap="flat" cmpd="sng" w="9525">
            <a:solidFill>
              <a:srgbClr val="FFE5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28"/>
          <p:cNvSpPr/>
          <p:nvPr/>
        </p:nvSpPr>
        <p:spPr>
          <a:xfrm>
            <a:off x="5430425" y="2358300"/>
            <a:ext cx="1476600" cy="1168800"/>
          </a:xfrm>
          <a:prstGeom prst="rect">
            <a:avLst/>
          </a:prstGeom>
          <a:noFill/>
          <a:ln cap="flat" cmpd="sng" w="19050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28"/>
          <p:cNvCxnSpPr/>
          <p:nvPr/>
        </p:nvCxnSpPr>
        <p:spPr>
          <a:xfrm>
            <a:off x="5477850" y="3995850"/>
            <a:ext cx="1436100" cy="0"/>
          </a:xfrm>
          <a:prstGeom prst="straightConnector1">
            <a:avLst/>
          </a:prstGeom>
          <a:noFill/>
          <a:ln cap="flat" cmpd="sng" w="9525">
            <a:solidFill>
              <a:srgbClr val="FFE5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8"/>
          <p:cNvCxnSpPr/>
          <p:nvPr/>
        </p:nvCxnSpPr>
        <p:spPr>
          <a:xfrm>
            <a:off x="2208250" y="4148250"/>
            <a:ext cx="1150800" cy="0"/>
          </a:xfrm>
          <a:prstGeom prst="straightConnector1">
            <a:avLst/>
          </a:prstGeom>
          <a:noFill/>
          <a:ln cap="flat" cmpd="sng" w="9525">
            <a:solidFill>
              <a:srgbClr val="FFE59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449704" y="273844"/>
            <a:ext cx="826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zh-CN" sz="2700"/>
              <a:t>Computation Overview</a:t>
            </a:r>
            <a:endParaRPr b="1" sz="2700"/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70" name="Google Shape;170;p29"/>
          <p:cNvSpPr txBox="1"/>
          <p:nvPr/>
        </p:nvSpPr>
        <p:spPr>
          <a:xfrm>
            <a:off x="2105963" y="4356900"/>
            <a:ext cx="77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MHA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29"/>
          <p:cNvCxnSpPr/>
          <p:nvPr/>
        </p:nvCxnSpPr>
        <p:spPr>
          <a:xfrm>
            <a:off x="4572000" y="1410475"/>
            <a:ext cx="0" cy="27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9"/>
          <p:cNvSpPr txBox="1"/>
          <p:nvPr/>
        </p:nvSpPr>
        <p:spPr>
          <a:xfrm>
            <a:off x="6346588" y="4356900"/>
            <a:ext cx="77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175" y="1181125"/>
            <a:ext cx="2749676" cy="3045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4175" y="1037488"/>
            <a:ext cx="3018850" cy="333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80" name="Google Shape;180;p30"/>
          <p:cNvSpPr txBox="1"/>
          <p:nvPr/>
        </p:nvSpPr>
        <p:spPr>
          <a:xfrm>
            <a:off x="1854450" y="2306250"/>
            <a:ext cx="5435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4191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➔"/>
            </a:pP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SGLang MLA Optimizations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449704" y="273844"/>
            <a:ext cx="826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zh-CN" sz="2700"/>
              <a:t>Weight Absorption</a:t>
            </a:r>
            <a:endParaRPr b="1"/>
          </a:p>
        </p:txBody>
      </p:sp>
      <p:sp>
        <p:nvSpPr>
          <p:cNvPr id="187" name="Google Shape;187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88" name="Google Shape;188;p31"/>
          <p:cNvSpPr txBox="1"/>
          <p:nvPr/>
        </p:nvSpPr>
        <p:spPr>
          <a:xfrm>
            <a:off x="726750" y="1268050"/>
            <a:ext cx="8160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computation order based on </a:t>
            </a:r>
            <a:r>
              <a:rPr b="1"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associative</a:t>
            </a:r>
            <a:r>
              <a:rPr b="1"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law</a:t>
            </a: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matrix multiplication.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1"/>
          <p:cNvSpPr/>
          <p:nvPr/>
        </p:nvSpPr>
        <p:spPr>
          <a:xfrm>
            <a:off x="2215550" y="2927800"/>
            <a:ext cx="1882500" cy="8313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" name="Google Shape;190;p31"/>
          <p:cNvGrpSpPr/>
          <p:nvPr/>
        </p:nvGrpSpPr>
        <p:grpSpPr>
          <a:xfrm>
            <a:off x="3490772" y="2099350"/>
            <a:ext cx="2219400" cy="609075"/>
            <a:chOff x="1118647" y="2211075"/>
            <a:chExt cx="2219400" cy="609075"/>
          </a:xfrm>
        </p:grpSpPr>
        <p:pic>
          <p:nvPicPr>
            <p:cNvPr id="191" name="Google Shape;19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18647" y="2211075"/>
              <a:ext cx="2219400" cy="609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31"/>
            <p:cNvSpPr/>
            <p:nvPr/>
          </p:nvSpPr>
          <p:spPr>
            <a:xfrm>
              <a:off x="1630525" y="2526275"/>
              <a:ext cx="714000" cy="2247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31"/>
          <p:cNvSpPr/>
          <p:nvPr/>
        </p:nvSpPr>
        <p:spPr>
          <a:xfrm>
            <a:off x="4575450" y="2927800"/>
            <a:ext cx="1882500" cy="8313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0625" y="3037100"/>
            <a:ext cx="1012350" cy="384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31"/>
          <p:cNvCxnSpPr>
            <a:stCxn id="192" idx="2"/>
            <a:endCxn id="189" idx="0"/>
          </p:cNvCxnSpPr>
          <p:nvPr/>
        </p:nvCxnSpPr>
        <p:spPr>
          <a:xfrm rot="5400000">
            <a:off x="3613850" y="2182050"/>
            <a:ext cx="288600" cy="12030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6" name="Google Shape;196;p31"/>
          <p:cNvCxnSpPr>
            <a:stCxn id="192" idx="2"/>
            <a:endCxn id="193" idx="0"/>
          </p:cNvCxnSpPr>
          <p:nvPr/>
        </p:nvCxnSpPr>
        <p:spPr>
          <a:xfrm flipH="1" rot="-5400000">
            <a:off x="4793900" y="2205000"/>
            <a:ext cx="288600" cy="11571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7" name="Google Shape;19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6650" y="3456400"/>
            <a:ext cx="592000" cy="24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8613" y="3468025"/>
            <a:ext cx="592000" cy="2192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31"/>
          <p:cNvCxnSpPr/>
          <p:nvPr/>
        </p:nvCxnSpPr>
        <p:spPr>
          <a:xfrm>
            <a:off x="2786550" y="3352250"/>
            <a:ext cx="31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31"/>
          <p:cNvCxnSpPr/>
          <p:nvPr/>
        </p:nvCxnSpPr>
        <p:spPr>
          <a:xfrm>
            <a:off x="3156650" y="3352250"/>
            <a:ext cx="42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31"/>
          <p:cNvSpPr txBox="1"/>
          <p:nvPr/>
        </p:nvSpPr>
        <p:spPr>
          <a:xfrm>
            <a:off x="1830950" y="2372088"/>
            <a:ext cx="384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44537" y="3132787"/>
            <a:ext cx="858612" cy="28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31"/>
          <p:cNvCxnSpPr/>
          <p:nvPr/>
        </p:nvCxnSpPr>
        <p:spPr>
          <a:xfrm>
            <a:off x="5096150" y="3385700"/>
            <a:ext cx="64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31"/>
          <p:cNvCxnSpPr/>
          <p:nvPr/>
        </p:nvCxnSpPr>
        <p:spPr>
          <a:xfrm>
            <a:off x="5779900" y="3385700"/>
            <a:ext cx="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5" name="Google Shape;205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35700" y="3472625"/>
            <a:ext cx="569100" cy="2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00025" y="3484350"/>
            <a:ext cx="592000" cy="186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1"/>
          <p:cNvSpPr txBox="1"/>
          <p:nvPr/>
        </p:nvSpPr>
        <p:spPr>
          <a:xfrm>
            <a:off x="5484625" y="2395988"/>
            <a:ext cx="384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971650" y="3836675"/>
            <a:ext cx="92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FLOPs: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75675" y="3922513"/>
            <a:ext cx="2362250" cy="33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1"/>
          <p:cNvSpPr txBox="1"/>
          <p:nvPr/>
        </p:nvSpPr>
        <p:spPr>
          <a:xfrm>
            <a:off x="845975" y="4305075"/>
            <a:ext cx="7609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decoding stage (</a:t>
            </a:r>
            <a:r>
              <a:rPr lang="zh-C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zh-C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zh-C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</a:t>
            </a:r>
            <a:r>
              <a:rPr lang="zh-C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the method</a:t>
            </a:r>
            <a:r>
              <a:rPr lang="zh-C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C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r>
              <a:rPr lang="zh-C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take </a:t>
            </a:r>
            <a:r>
              <a:rPr b="1" lang="zh-C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computation</a:t>
            </a:r>
            <a:r>
              <a:rPr lang="zh-C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495800" y="3929000"/>
            <a:ext cx="2362250" cy="32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1"/>
          <p:cNvSpPr txBox="1"/>
          <p:nvPr/>
        </p:nvSpPr>
        <p:spPr>
          <a:xfrm>
            <a:off x="7242800" y="3289250"/>
            <a:ext cx="2174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DeepSeek-V2,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128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zh-C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512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128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1"/>
          <p:cNvSpPr txBox="1"/>
          <p:nvPr/>
        </p:nvSpPr>
        <p:spPr>
          <a:xfrm>
            <a:off x="2160750" y="2352663"/>
            <a:ext cx="126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orignal order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1"/>
          <p:cNvSpPr txBox="1"/>
          <p:nvPr/>
        </p:nvSpPr>
        <p:spPr>
          <a:xfrm>
            <a:off x="5778100" y="2382963"/>
            <a:ext cx="150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absorbed</a:t>
            </a:r>
            <a:r>
              <a:rPr lang="zh-C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order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449704" y="273844"/>
            <a:ext cx="826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zh-CN" sz="2700"/>
              <a:t>Weight A</a:t>
            </a:r>
            <a:r>
              <a:rPr b="1" lang="zh-CN" sz="2700"/>
              <a:t>bsorption</a:t>
            </a:r>
            <a:endParaRPr b="1"/>
          </a:p>
        </p:txBody>
      </p:sp>
      <p:sp>
        <p:nvSpPr>
          <p:cNvPr id="221" name="Google Shape;221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22" name="Google Shape;222;p32"/>
          <p:cNvSpPr/>
          <p:nvPr/>
        </p:nvSpPr>
        <p:spPr>
          <a:xfrm>
            <a:off x="4361375" y="2476500"/>
            <a:ext cx="272100" cy="19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2"/>
          <p:cNvSpPr txBox="1"/>
          <p:nvPr/>
        </p:nvSpPr>
        <p:spPr>
          <a:xfrm>
            <a:off x="1958550" y="4594775"/>
            <a:ext cx="112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450" y="1126525"/>
            <a:ext cx="3116377" cy="344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5662" y="1043912"/>
            <a:ext cx="3116377" cy="360584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/>
          <p:nvPr/>
        </p:nvSpPr>
        <p:spPr>
          <a:xfrm>
            <a:off x="5651950" y="4594775"/>
            <a:ext cx="2143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w/ Weight Absorption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449704" y="273844"/>
            <a:ext cx="826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zh-CN" sz="2700"/>
              <a:t>Weight Absorption</a:t>
            </a:r>
            <a:endParaRPr b="1"/>
          </a:p>
        </p:txBody>
      </p:sp>
      <p:sp>
        <p:nvSpPr>
          <p:cNvPr id="233" name="Google Shape;233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34" name="Google Shape;234;p33"/>
          <p:cNvSpPr txBox="1"/>
          <p:nvPr/>
        </p:nvSpPr>
        <p:spPr>
          <a:xfrm>
            <a:off x="726750" y="1268050"/>
            <a:ext cx="7926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Reduced overall computation in decoding stage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 the computation and memory access in decoding kernel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Increased the attention computation intensity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Reduced the memory access of kv cache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PR: </a:t>
            </a:r>
            <a:r>
              <a:rPr lang="zh-CN" sz="2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#905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>
            <p:ph type="title"/>
          </p:nvPr>
        </p:nvSpPr>
        <p:spPr>
          <a:xfrm>
            <a:off x="449704" y="273844"/>
            <a:ext cx="826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zh-CN" sz="2700"/>
              <a:t>Groupped Decoding Kernel</a:t>
            </a:r>
            <a:endParaRPr b="1"/>
          </a:p>
        </p:txBody>
      </p:sp>
      <p:sp>
        <p:nvSpPr>
          <p:cNvPr id="241" name="Google Shape;241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42" name="Google Shape;242;p34"/>
          <p:cNvSpPr txBox="1"/>
          <p:nvPr/>
        </p:nvSpPr>
        <p:spPr>
          <a:xfrm>
            <a:off x="726750" y="1268050"/>
            <a:ext cx="7788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optimized the memory access of </a:t>
            </a:r>
            <a:r>
              <a:rPr lang="zh-CN" sz="2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Triton decoding kernel</a:t>
            </a:r>
            <a:r>
              <a:rPr lang="zh-C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MLA.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4425" y="1680700"/>
            <a:ext cx="2600407" cy="319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400" y="1860325"/>
            <a:ext cx="2641022" cy="306274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4"/>
          <p:cNvSpPr/>
          <p:nvPr/>
        </p:nvSpPr>
        <p:spPr>
          <a:xfrm>
            <a:off x="4107875" y="3054775"/>
            <a:ext cx="272100" cy="19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>
            <p:ph type="title"/>
          </p:nvPr>
        </p:nvSpPr>
        <p:spPr>
          <a:xfrm>
            <a:off x="449704" y="273844"/>
            <a:ext cx="826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zh-CN" sz="2700"/>
              <a:t>Quantization</a:t>
            </a:r>
            <a:endParaRPr b="1"/>
          </a:p>
        </p:txBody>
      </p:sp>
      <p:sp>
        <p:nvSpPr>
          <p:cNvPr id="252" name="Google Shape;252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53" name="Google Shape;253;p35"/>
          <p:cNvSpPr txBox="1"/>
          <p:nvPr/>
        </p:nvSpPr>
        <p:spPr>
          <a:xfrm>
            <a:off x="2103150" y="2674625"/>
            <a:ext cx="4937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5"/>
          <p:cNvSpPr txBox="1"/>
          <p:nvPr/>
        </p:nvSpPr>
        <p:spPr>
          <a:xfrm>
            <a:off x="617950" y="3857325"/>
            <a:ext cx="49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zh-C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elated PR: </a:t>
            </a:r>
            <a:r>
              <a:rPr lang="zh-C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#469</a:t>
            </a:r>
            <a:r>
              <a:rPr lang="zh-C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zh-C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#1285</a:t>
            </a:r>
            <a:r>
              <a:rPr lang="zh-C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zh-C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#1286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617950" y="4300450"/>
            <a:ext cx="814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Limitations</a:t>
            </a:r>
            <a:r>
              <a:rPr lang="zh-C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torch compile not support FP8; W8A8 only support sm89+; FP8 KV Cache only support E5M2 for now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35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53250" y="1191850"/>
            <a:ext cx="5237503" cy="256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type="title"/>
          </p:nvPr>
        </p:nvSpPr>
        <p:spPr>
          <a:xfrm>
            <a:off x="449704" y="273844"/>
            <a:ext cx="826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zh-CN" sz="2700"/>
              <a:t>CUDA Graph &amp; Torch Compile</a:t>
            </a:r>
            <a:endParaRPr b="1"/>
          </a:p>
        </p:txBody>
      </p:sp>
      <p:sp>
        <p:nvSpPr>
          <p:cNvPr id="263" name="Google Shape;263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64" name="Google Shape;264;p36"/>
          <p:cNvSpPr txBox="1"/>
          <p:nvPr/>
        </p:nvSpPr>
        <p:spPr>
          <a:xfrm>
            <a:off x="2103150" y="2674625"/>
            <a:ext cx="4937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6"/>
          <p:cNvSpPr txBox="1"/>
          <p:nvPr/>
        </p:nvSpPr>
        <p:spPr>
          <a:xfrm>
            <a:off x="617950" y="3857325"/>
            <a:ext cx="49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PR: </a:t>
            </a:r>
            <a:r>
              <a:rPr lang="zh-C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#1401</a:t>
            </a:r>
            <a:r>
              <a:rPr lang="zh-C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zh-C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#1469</a:t>
            </a:r>
            <a:r>
              <a:rPr lang="zh-C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zh-C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#1442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617950" y="4452850"/>
            <a:ext cx="49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zh-CN" sz="15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orkaround</a:t>
            </a:r>
            <a:r>
              <a:rPr lang="zh-C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zh-C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#1446</a:t>
            </a:r>
            <a:r>
              <a:rPr lang="zh-C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(FusedMoE skipped for torch compile)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36" title="Chart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62838" y="1201775"/>
            <a:ext cx="5241725" cy="256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/>
              <a:t>End2end Benchmark</a:t>
            </a:r>
            <a:endParaRPr b="1"/>
          </a:p>
        </p:txBody>
      </p:sp>
      <p:pic>
        <p:nvPicPr>
          <p:cNvPr id="273" name="Google Shape;273;p3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224" y="1594550"/>
            <a:ext cx="5878577" cy="253102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7"/>
          <p:cNvSpPr txBox="1"/>
          <p:nvPr/>
        </p:nvSpPr>
        <p:spPr>
          <a:xfrm>
            <a:off x="1575325" y="4452075"/>
            <a:ext cx="6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and setup:  </a:t>
            </a:r>
            <a:r>
              <a:rPr lang="zh-CN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https://lmsys.org/blog/2024-09-04-sglang-v0-3/</a:t>
            </a: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80" name="Google Shape;280;p38"/>
          <p:cNvSpPr txBox="1"/>
          <p:nvPr/>
        </p:nvSpPr>
        <p:spPr>
          <a:xfrm>
            <a:off x="1854450" y="2306250"/>
            <a:ext cx="5435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4191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➔"/>
            </a:pP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Use MLA in SGLang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9"/>
          <p:cNvSpPr txBox="1"/>
          <p:nvPr>
            <p:ph type="title"/>
          </p:nvPr>
        </p:nvSpPr>
        <p:spPr>
          <a:xfrm>
            <a:off x="449704" y="273844"/>
            <a:ext cx="826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zh-CN" sz="2700"/>
              <a:t>How to Use MLA in SGLang</a:t>
            </a:r>
            <a:endParaRPr b="1"/>
          </a:p>
        </p:txBody>
      </p:sp>
      <p:sp>
        <p:nvSpPr>
          <p:cNvPr id="287" name="Google Shape;287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88" name="Google Shape;288;p39"/>
          <p:cNvSpPr txBox="1"/>
          <p:nvPr/>
        </p:nvSpPr>
        <p:spPr>
          <a:xfrm>
            <a:off x="694250" y="1139325"/>
            <a:ext cx="637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 using the </a:t>
            </a:r>
            <a:r>
              <a:rPr b="1" lang="zh-C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latest </a:t>
            </a:r>
            <a:r>
              <a:rPr lang="zh-C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version(&gt;=v0.3.1.post3).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9"/>
          <p:cNvSpPr txBox="1"/>
          <p:nvPr/>
        </p:nvSpPr>
        <p:spPr>
          <a:xfrm>
            <a:off x="578100" y="1554825"/>
            <a:ext cx="8011200" cy="3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76200" marR="76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1D1D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fp16 tp8</a:t>
            </a:r>
            <a:endParaRPr sz="1100">
              <a:solidFill>
                <a:srgbClr val="1D1D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1D1D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python3 -m sglang.launch_server --model deepseek-ai/DeepSeek-Coder-V2-Instruct --tp 8 --trust-remote-code</a:t>
            </a:r>
            <a:endParaRPr sz="1100">
              <a:solidFill>
                <a:srgbClr val="1D1D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100">
                <a:solidFill>
                  <a:srgbClr val="1D1D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fp16 tp8 w/ torch compile</a:t>
            </a:r>
            <a:endParaRPr sz="1100">
              <a:solidFill>
                <a:srgbClr val="1D1D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1D1D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python3 -m sglang.launch_server --model deepseek-ai/DeepSeek-Coder-V2-Instruct --tp 8 --trust-remote-code </a:t>
            </a:r>
            <a:r>
              <a:rPr lang="zh-CN" sz="1100">
                <a:solidFill>
                  <a:srgbClr val="1D1D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--enable-torch-compile</a:t>
            </a:r>
            <a:endParaRPr sz="1100">
              <a:solidFill>
                <a:srgbClr val="1D1D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100">
                <a:solidFill>
                  <a:srgbClr val="1D1D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fp16 tp8 w/ torch compile, max torch compile batch size 1</a:t>
            </a:r>
            <a:endParaRPr sz="1100">
              <a:solidFill>
                <a:srgbClr val="1D1D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1D1D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python3 -m sglang.launch_server --model deepseek-ai/DeepSeek-Coder-V2-Instruct --tp 8 --trust-remote-code --enable-torch-compile --max-torch-compile-bs 1</a:t>
            </a:r>
            <a:endParaRPr sz="1100">
              <a:solidFill>
                <a:srgbClr val="1D1D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1D1D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fp8 tp8, fp8 e5m2 kv cache</a:t>
            </a:r>
            <a:endParaRPr sz="1100">
              <a:solidFill>
                <a:srgbClr val="1D1D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1D1D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python3 -m sglang.launch_server --model neuralmagic/DeepSeek-Coder-V2-Instruct-FP8 --tp 8 --trust-remote-code --kv-cache-dtype fp8_e5m2</a:t>
            </a:r>
            <a:endParaRPr sz="1100">
              <a:solidFill>
                <a:srgbClr val="1D1D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D1D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95" name="Google Shape;295;p40"/>
          <p:cNvSpPr txBox="1"/>
          <p:nvPr/>
        </p:nvSpPr>
        <p:spPr>
          <a:xfrm>
            <a:off x="1854450" y="2306250"/>
            <a:ext cx="5435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4191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➔"/>
            </a:pP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/>
          <p:nvPr>
            <p:ph type="title"/>
          </p:nvPr>
        </p:nvSpPr>
        <p:spPr>
          <a:xfrm>
            <a:off x="449704" y="273844"/>
            <a:ext cx="826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zh-CN" sz="2700"/>
              <a:t>Future Work</a:t>
            </a:r>
            <a:endParaRPr b="1"/>
          </a:p>
        </p:txBody>
      </p:sp>
      <p:sp>
        <p:nvSpPr>
          <p:cNvPr id="302" name="Google Shape;302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303" name="Google Shape;303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304" name="Google Shape;304;p41"/>
          <p:cNvSpPr txBox="1"/>
          <p:nvPr/>
        </p:nvSpPr>
        <p:spPr>
          <a:xfrm>
            <a:off x="2428275" y="770850"/>
            <a:ext cx="4858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MoE use TP or EP, Attention use DP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torch.compile for MoE layers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Separate prefill and decoding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optimizations (FlashInfer support)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FP8 KV Cache support E4M3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3300" y="2571750"/>
            <a:ext cx="4237399" cy="2521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311" name="Google Shape;311;p42"/>
          <p:cNvSpPr txBox="1"/>
          <p:nvPr/>
        </p:nvSpPr>
        <p:spPr>
          <a:xfrm>
            <a:off x="822150" y="2040750"/>
            <a:ext cx="74997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Welcome to join our </a:t>
            </a:r>
            <a:r>
              <a:rPr b="1" lang="zh-CN" sz="3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Slack</a:t>
            </a: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use </a:t>
            </a:r>
            <a:r>
              <a:rPr b="1" lang="zh-CN" sz="3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SGLang</a:t>
            </a: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